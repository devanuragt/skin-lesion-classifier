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DF5FA9-7247-4CC1-BB31-291E0FF9EE24}">
  <a:tblStyle styleId="{B6DF5FA9-7247-4CC1-BB31-291E0FF9EE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2128550" y="9110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>
                <a:solidFill>
                  <a:schemeClr val="dk1"/>
                </a:solidFill>
              </a:rPr>
              <a:t>Skin Disease Classifier</a:t>
            </a:r>
            <a:endParaRPr b="1" sz="4800"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2814350" y="3580250"/>
            <a:ext cx="6400800" cy="25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Prepared by: </a:t>
            </a:r>
            <a:r>
              <a:rPr lang="en-US"/>
              <a:t>Group 19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br>
              <a:rPr lang="en-US"/>
            </a:br>
            <a:r>
              <a:rPr lang="en-US"/>
              <a:t>Anurag Thakur 2023IMG-008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Baviskar Pratik Subhash 2023IMG-014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Kshitij Dhamanikar 2023IMG-029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Kushagra Agarwal </a:t>
            </a:r>
            <a:r>
              <a:rPr lang="en-US"/>
              <a:t>2023IMG-030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Vibhor Kumar 2023IMG-054</a:t>
            </a:r>
            <a:endParaRPr/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2768300" y="2295125"/>
            <a:ext cx="64929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/>
              <a:t>Applied Image Processing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Problem Statement and Objectives</a:t>
            </a:r>
            <a:endParaRPr b="1"/>
          </a:p>
        </p:txBody>
      </p:sp>
      <p:sp>
        <p:nvSpPr>
          <p:cNvPr id="92" name="Google Shape;92;p14"/>
          <p:cNvSpPr txBox="1"/>
          <p:nvPr/>
        </p:nvSpPr>
        <p:spPr>
          <a:xfrm>
            <a:off x="691524" y="2012322"/>
            <a:ext cx="10246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109725" wrap="square" tIns="45700">
            <a:spAutoFit/>
          </a:bodyPr>
          <a:lstStyle/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Classify 8 skin disease categories from images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CPU-friendly ViT-based training and inference pipeline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 accuracy using model ensembling and robust evaluation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best model in web application runtime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reproducible experiments with saved metrics and confusion outputs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student-ready report and presentation deliverables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Dataset and Experimental Setup</a:t>
            </a:r>
            <a:endParaRPr b="1"/>
          </a:p>
        </p:txBody>
      </p:sp>
      <p:sp>
        <p:nvSpPr>
          <p:cNvPr id="98" name="Google Shape;98;p15"/>
          <p:cNvSpPr txBox="1"/>
          <p:nvPr/>
        </p:nvSpPr>
        <p:spPr>
          <a:xfrm>
            <a:off x="604200" y="1885322"/>
            <a:ext cx="10841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109725" wrap="square" tIns="45700">
            <a:spAutoFit/>
          </a:bodyPr>
          <a:lstStyle/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split: </a:t>
            </a:r>
            <a:r>
              <a:rPr i="1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hf_hybrid_150</a:t>
            </a: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 set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classes, 23 images per class, 184 total test samples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CPU-only training environment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Leakage-safe subset verification used for reliability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scoring tracked with accuracy, macro precision, and macro recall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Class-level diagnostics captured using confusion matrix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KPI Summary</a:t>
            </a:r>
            <a:endParaRPr/>
          </a:p>
        </p:txBody>
      </p:sp>
      <p:pic>
        <p:nvPicPr>
          <p:cNvPr descr="kpi_summary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99" y="1234440"/>
            <a:ext cx="7894320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8686800" y="2579849"/>
            <a:ext cx="30825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reached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85.33%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test split.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Macro precision and recall both remained above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r>
              <a:rPr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performance of deployed ensemble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1981038" y="139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Final Metrics Table</a:t>
            </a:r>
            <a:endParaRPr b="1"/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50292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{B6DF5FA9-7247-4CC1-BB31-291E0FF9EE24}</a:tableStyleId>
              </a:tblPr>
              <a:tblGrid>
                <a:gridCol w="2880350"/>
                <a:gridCol w="2468875"/>
                <a:gridCol w="2468875"/>
                <a:gridCol w="3337550"/>
              </a:tblGrid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/>
                        <a:t>Class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/>
                        <a:t>Precision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/>
                        <a:t>Recall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/>
                        <a:t>Support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acne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0.7931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bcc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0.8800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0.9565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bkl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0.9091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0.8696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eczema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0.8750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0.6087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0.9130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0.9130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melanoma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0.9091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0.8696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psoriasis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0.7143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0.8696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tinea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0.8947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0.7391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3" name="Google Shape;113;p17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Overall: Accuracy=0.8533, Macro Precision=0.8610, Macro Recall=0.8533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Class-wise Precision and Recall</a:t>
            </a:r>
            <a:endParaRPr/>
          </a:p>
        </p:txBody>
      </p:sp>
      <p:pic>
        <p:nvPicPr>
          <p:cNvPr descr="precision_recall_by_class.png"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63881"/>
            <a:ext cx="7955279" cy="36160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8686800" y="2256605"/>
            <a:ext cx="3122400" cy="23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Acne and BCC show strong recall.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Eczema recall is the major challenge class.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Per-class balance improved over single-model baseline.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Confusion Matrix</a:t>
            </a:r>
            <a:endParaRPr/>
          </a:p>
        </p:txBody>
      </p:sp>
      <p:pic>
        <p:nvPicPr>
          <p:cNvPr descr="confusion_matrix_heatmap.png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605" y="1234440"/>
            <a:ext cx="5799908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8686800" y="2256600"/>
            <a:ext cx="2931900" cy="23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errors occur in clinically similar categories.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 occasionally overlaps with BCC.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Eczema and Psoriasis still need more separation.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Prediction Distribution</a:t>
            </a:r>
            <a:endParaRPr/>
          </a:p>
        </p:txBody>
      </p:sp>
      <p:pic>
        <p:nvPicPr>
          <p:cNvPr descr="true_vs_predicted_counts.png"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63881"/>
            <a:ext cx="7955279" cy="361603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8686800" y="2599500"/>
            <a:ext cx="3169800" cy="23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volumes are close to true counts.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over-prediction appears in Acne and Psoriasis.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Under-prediction in Eczema aligns with recall gap.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Ensemble Composition</a:t>
            </a:r>
            <a:endParaRPr/>
          </a:p>
        </p:txBody>
      </p:sp>
      <p:pic>
        <p:nvPicPr>
          <p:cNvPr descr="ensemble_weights_pie.png" id="140" name="Google Shape;1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100" y="1234440"/>
            <a:ext cx="5074920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8686800" y="2599500"/>
            <a:ext cx="3058800" cy="23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strongest members carry 90% total weight.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Small-weight members improve calibration stability.</a:t>
            </a:r>
            <a:endParaRPr/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 voting gave better robustness than single model.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1981038" y="1873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Future Scope and Roadmap</a:t>
            </a:r>
            <a:endParaRPr b="1"/>
          </a:p>
        </p:txBody>
      </p:sp>
      <p:sp>
        <p:nvSpPr>
          <p:cNvPr id="147" name="Google Shape;147;p22"/>
          <p:cNvSpPr txBox="1"/>
          <p:nvPr/>
        </p:nvSpPr>
        <p:spPr>
          <a:xfrm>
            <a:off x="580400" y="2089951"/>
            <a:ext cx="10905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109725" wrap="square" tIns="45700">
            <a:spAutoFit/>
          </a:bodyPr>
          <a:lstStyle/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strict non-overlap benchmark split for final academic evaluation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higher-capacity ViT with longer schedule and distillation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confidence thresholding and abstention for uncertain cases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external validation on a separate dataset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Eczema and Tinea recall via targeted data curation</a:t>
            </a:r>
            <a:endParaRPr/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versioned monitoring dashboard for drift and class-wise degradation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